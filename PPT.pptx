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8KbcNjR4IBtrTd0iST+wB0t6S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17"/>
          <p:cNvSpPr txBox="1"/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title"/>
          </p:nvPr>
        </p:nvSpPr>
        <p:spPr>
          <a:xfrm>
            <a:off x="6562816" y="457200"/>
            <a:ext cx="4837176" cy="1993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/>
          <p:nvPr>
            <p:ph idx="2" type="pic"/>
          </p:nvPr>
        </p:nvSpPr>
        <p:spPr>
          <a:xfrm>
            <a:off x="-28882" y="0"/>
            <a:ext cx="6115050" cy="68580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6562818" y="2752344"/>
            <a:ext cx="483717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1pPr>
            <a:lvl2pPr indent="-2286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2pPr>
            <a:lvl3pPr indent="-2286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3pPr>
            <a:lvl4pPr indent="-2286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4pPr>
            <a:lvl5pPr indent="-2286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8"/>
          <p:cNvSpPr/>
          <p:nvPr/>
        </p:nvSpPr>
        <p:spPr>
          <a:xfrm>
            <a:off x="6562817" y="6303963"/>
            <a:ext cx="301498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+ picture">
  <p:cSld name="Title + subtitle + pictur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ctrTitle"/>
          </p:nvPr>
        </p:nvSpPr>
        <p:spPr>
          <a:xfrm>
            <a:off x="1117600" y="762000"/>
            <a:ext cx="5066250" cy="2900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/>
          <p:nvPr>
            <p:ph idx="2" type="pic"/>
          </p:nvPr>
        </p:nvSpPr>
        <p:spPr>
          <a:xfrm flipH="1">
            <a:off x="6086167" y="-22225"/>
            <a:ext cx="6080760" cy="690245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26" name="Google Shape;26;p19"/>
          <p:cNvSpPr txBox="1"/>
          <p:nvPr>
            <p:ph idx="1" type="subTitle"/>
          </p:nvPr>
        </p:nvSpPr>
        <p:spPr>
          <a:xfrm>
            <a:off x="1117600" y="4145280"/>
            <a:ext cx="5066250" cy="690880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Title + sub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ctrTitle"/>
          </p:nvPr>
        </p:nvSpPr>
        <p:spPr>
          <a:xfrm>
            <a:off x="1524000" y="1143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subTitle"/>
          </p:nvPr>
        </p:nvSpPr>
        <p:spPr>
          <a:xfrm>
            <a:off x="1524000" y="3835198"/>
            <a:ext cx="9144000" cy="683219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7" name="Google Shape;37;p22"/>
          <p:cNvSpPr txBox="1"/>
          <p:nvPr>
            <p:ph type="title"/>
          </p:nvPr>
        </p:nvSpPr>
        <p:spPr>
          <a:xfrm>
            <a:off x="1362437" y="400485"/>
            <a:ext cx="9467127" cy="25279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1362075" y="3738622"/>
            <a:ext cx="9467850" cy="2527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ontent 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type="title"/>
          </p:nvPr>
        </p:nvSpPr>
        <p:spPr>
          <a:xfrm>
            <a:off x="5242425" y="466344"/>
            <a:ext cx="6241651" cy="1710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/>
          <p:nvPr>
            <p:ph idx="2" type="pic"/>
          </p:nvPr>
        </p:nvSpPr>
        <p:spPr>
          <a:xfrm>
            <a:off x="0" y="0"/>
            <a:ext cx="428783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5242426" y="2286000"/>
            <a:ext cx="624165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3"/>
          <p:cNvSpPr/>
          <p:nvPr/>
        </p:nvSpPr>
        <p:spPr>
          <a:xfrm>
            <a:off x="5291586" y="6303963"/>
            <a:ext cx="4287186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>
  <p:cSld name="Two Content 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4"/>
          <p:cNvSpPr txBox="1"/>
          <p:nvPr>
            <p:ph type="title"/>
          </p:nvPr>
        </p:nvSpPr>
        <p:spPr>
          <a:xfrm>
            <a:off x="838200" y="36576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838199" y="2024781"/>
            <a:ext cx="5212079" cy="4137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6459795" y="2024780"/>
            <a:ext cx="4894006" cy="4137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2">
  <p:cSld name="Two Content 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838200" y="36576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838200" y="2024781"/>
            <a:ext cx="2878394" cy="4137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rabicPeriod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lphaLcPeriod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rabicParenR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lphaLcParenR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459795" y="2024780"/>
            <a:ext cx="4894006" cy="4137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picture ">
  <p:cSld name="Content + picture 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/>
          <p:nvPr>
            <p:ph type="title"/>
          </p:nvPr>
        </p:nvSpPr>
        <p:spPr>
          <a:xfrm>
            <a:off x="838201" y="448056"/>
            <a:ext cx="6172200" cy="1581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" type="body"/>
          </p:nvPr>
        </p:nvSpPr>
        <p:spPr>
          <a:xfrm>
            <a:off x="838200" y="2257063"/>
            <a:ext cx="4894006" cy="390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6"/>
          <p:cNvSpPr/>
          <p:nvPr>
            <p:ph idx="2" type="pic"/>
          </p:nvPr>
        </p:nvSpPr>
        <p:spPr>
          <a:xfrm>
            <a:off x="7500938" y="-22225"/>
            <a:ext cx="4714875" cy="68802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6"/>
          <p:cNvSpPr/>
          <p:nvPr/>
        </p:nvSpPr>
        <p:spPr>
          <a:xfrm>
            <a:off x="993814" y="6303963"/>
            <a:ext cx="4287186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table">
  <p:cSld name="Content + tab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7"/>
          <p:cNvSpPr txBox="1"/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" type="body"/>
          </p:nvPr>
        </p:nvSpPr>
        <p:spPr>
          <a:xfrm>
            <a:off x="896074" y="2106591"/>
            <a:ext cx="2067045" cy="363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▪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3">
  <p:cSld name="Two Content 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8"/>
          <p:cNvSpPr txBox="1"/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" type="body"/>
          </p:nvPr>
        </p:nvSpPr>
        <p:spPr>
          <a:xfrm>
            <a:off x="838200" y="1790329"/>
            <a:ext cx="5134335" cy="411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2" type="body"/>
          </p:nvPr>
        </p:nvSpPr>
        <p:spPr>
          <a:xfrm>
            <a:off x="6219464" y="1790329"/>
            <a:ext cx="5134335" cy="411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8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hyperlink" Target="https://www.kaggle.com/datasets/oktayrdeki/traffic-accident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" id="82" name="Google Shape;82;p1"/>
          <p:cNvPicPr preferRelativeResize="0"/>
          <p:nvPr>
            <p:ph idx="2" type="pic"/>
          </p:nvPr>
        </p:nvPicPr>
        <p:blipFill rotWithShape="1">
          <a:blip r:embed="rId3">
            <a:alphaModFix amt="52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 txBox="1"/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TRAFFIC ACCIDENTS PREVENTION</a:t>
            </a:r>
            <a:br>
              <a:rPr lang="en-US"/>
            </a:br>
            <a:r>
              <a:rPr lang="en-US"/>
              <a:t>(CHRISTMAS EDITION)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6562816" y="457200"/>
            <a:ext cx="4837176" cy="1993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OUR TEAM</a:t>
            </a:r>
            <a:endParaRPr/>
          </a:p>
        </p:txBody>
      </p:sp>
      <p:pic>
        <p:nvPicPr>
          <p:cNvPr descr="Steel gears" id="90" name="Google Shape;90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" l="0" r="40479" t="0"/>
          <a:stretch/>
        </p:blipFill>
        <p:spPr>
          <a:xfrm>
            <a:off x="-28882" y="10"/>
            <a:ext cx="6115050" cy="685799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sp>
        <p:nvSpPr>
          <p:cNvPr id="91" name="Google Shape;91;p2"/>
          <p:cNvSpPr txBox="1"/>
          <p:nvPr>
            <p:ph idx="1" type="body"/>
          </p:nvPr>
        </p:nvSpPr>
        <p:spPr>
          <a:xfrm>
            <a:off x="6562818" y="2752344"/>
            <a:ext cx="483717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DIMOSTHENIS GKITZENAS</a:t>
            </a:r>
            <a:endParaRPr/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KONSTANTINOS XENOKTISTAKIS </a:t>
            </a:r>
            <a:endParaRPr/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GEORGIA SAMARA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6562816" y="457200"/>
            <a:ext cx="4837176" cy="1993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pic>
        <p:nvPicPr>
          <p:cNvPr id="98" name="Google Shape;98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278" r="20278" t="0"/>
          <a:stretch/>
        </p:blipFill>
        <p:spPr>
          <a:xfrm>
            <a:off x="-28882" y="0"/>
            <a:ext cx="6115050" cy="68580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sp>
        <p:nvSpPr>
          <p:cNvPr id="99" name="Google Shape;99;p3"/>
          <p:cNvSpPr txBox="1"/>
          <p:nvPr>
            <p:ph idx="1" type="body"/>
          </p:nvPr>
        </p:nvSpPr>
        <p:spPr>
          <a:xfrm>
            <a:off x="6562818" y="2752344"/>
            <a:ext cx="483717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THE DATASET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OUR SELECTION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THE ANALYSIS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CONCLUSION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 up of computer code" id="105" name="Google Shape;105;p4"/>
          <p:cNvPicPr preferRelativeResize="0"/>
          <p:nvPr>
            <p:ph idx="2" type="pic"/>
          </p:nvPr>
        </p:nvPicPr>
        <p:blipFill rotWithShape="1">
          <a:blip r:embed="rId3">
            <a:alphaModFix amt="40000"/>
          </a:blip>
          <a:srcRect b="7813" l="0" r="0" t="7812"/>
          <a:stretch/>
        </p:blipFill>
        <p:spPr>
          <a:xfrm>
            <a:off x="-55928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THE DATASET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ctrTitle"/>
          </p:nvPr>
        </p:nvSpPr>
        <p:spPr>
          <a:xfrm>
            <a:off x="825771" y="460443"/>
            <a:ext cx="5020553" cy="6874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>
                <a:latin typeface="Calibri"/>
                <a:ea typeface="Calibri"/>
                <a:cs typeface="Calibri"/>
                <a:sym typeface="Calibri"/>
              </a:rPr>
              <a:t>THE DATASET</a:t>
            </a:r>
            <a:endParaRPr/>
          </a:p>
        </p:txBody>
      </p:sp>
      <p:pic>
        <p:nvPicPr>
          <p:cNvPr descr="Lines of code" id="113" name="Google Shape;113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5531" r="25531" t="0"/>
          <a:stretch/>
        </p:blipFill>
        <p:spPr>
          <a:xfrm flipH="1">
            <a:off x="6086167" y="-22225"/>
            <a:ext cx="6080760" cy="690245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389106" y="1507788"/>
            <a:ext cx="5856051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source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https://www.kaggle.com/datasets/oktayrdeki/traffic-accidents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This dataset contains detailed information on traffic accidents across various regions and time periods. It includes various metrics and spans multiple locations and accident types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Dataset in Numbers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209.306 Rows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 columns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ctrTitle"/>
          </p:nvPr>
        </p:nvSpPr>
        <p:spPr>
          <a:xfrm>
            <a:off x="796588" y="207524"/>
            <a:ext cx="5020553" cy="6874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>
                <a:latin typeface="Calibri"/>
                <a:ea typeface="Calibri"/>
                <a:cs typeface="Calibri"/>
                <a:sym typeface="Calibri"/>
              </a:rPr>
              <a:t>OUR SELECTION</a:t>
            </a:r>
            <a:endParaRPr/>
          </a:p>
        </p:txBody>
      </p:sp>
      <p:pic>
        <p:nvPicPr>
          <p:cNvPr descr="3D code background" id="121" name="Google Shape;121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740" r="22740" t="0"/>
          <a:stretch/>
        </p:blipFill>
        <p:spPr>
          <a:xfrm flipH="1">
            <a:off x="6799633" y="-22225"/>
            <a:ext cx="5367293" cy="690245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632297" y="914400"/>
            <a:ext cx="5856051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 to the purpose of our analysis, we used only the data that reported a death or injury, and we excluded the cases where no physical harm occurred.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Dataset in Numbers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54.517 Rows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 columns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elements of the table, on which our analysis is based: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Crash date and time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injuries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severity of injuries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weather conditions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road conditions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 up of computer code" id="128" name="Google Shape;128;p7"/>
          <p:cNvPicPr preferRelativeResize="0"/>
          <p:nvPr>
            <p:ph idx="2" type="pic"/>
          </p:nvPr>
        </p:nvPicPr>
        <p:blipFill rotWithShape="1">
          <a:blip r:embed="rId3">
            <a:alphaModFix amt="40000"/>
          </a:blip>
          <a:srcRect b="7813" l="0" r="0" t="7812"/>
          <a:stretch/>
        </p:blipFill>
        <p:spPr>
          <a:xfrm>
            <a:off x="-55928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/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THE ANALYSIS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/>
        </p:nvSpPr>
        <p:spPr>
          <a:xfrm>
            <a:off x="409112" y="1141205"/>
            <a:ext cx="4441372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Analyzing Period: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March 2013 – 17 January 2025</a:t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295712" y="3112117"/>
            <a:ext cx="4849044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80.105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Fatal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389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 with less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2013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 with most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 with less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February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 with most Injuries: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October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aph of a graph with numbers and lines&#10;&#10;AI-generated content may be incorrect.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1602" r="0" t="1228"/>
          <a:stretch/>
        </p:blipFill>
        <p:spPr>
          <a:xfrm>
            <a:off x="6680639" y="391886"/>
            <a:ext cx="4534939" cy="3037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blue bars&#10;&#10;AI-generated content may be incorrect." id="138" name="Google Shape;138;p8"/>
          <p:cNvPicPr preferRelativeResize="0"/>
          <p:nvPr/>
        </p:nvPicPr>
        <p:blipFill rotWithShape="1">
          <a:blip r:embed="rId4">
            <a:alphaModFix/>
          </a:blip>
          <a:srcRect b="0" l="1691" r="1596" t="0"/>
          <a:stretch/>
        </p:blipFill>
        <p:spPr>
          <a:xfrm>
            <a:off x="6578694" y="3713450"/>
            <a:ext cx="4636885" cy="2843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2527041" y="69979"/>
            <a:ext cx="71379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Accidents analysis per Injury Severity</a:t>
            </a:r>
            <a:endParaRPr/>
          </a:p>
        </p:txBody>
      </p:sp>
      <p:pic>
        <p:nvPicPr>
          <p:cNvPr descr="A pie chart with text&#10;&#10;AI-generated content may be incorrect." id="145" name="Google Shape;145;p9"/>
          <p:cNvPicPr preferRelativeResize="0"/>
          <p:nvPr/>
        </p:nvPicPr>
        <p:blipFill rotWithShape="1">
          <a:blip r:embed="rId3">
            <a:alphaModFix/>
          </a:blip>
          <a:srcRect b="5051" l="0" r="0" t="0"/>
          <a:stretch/>
        </p:blipFill>
        <p:spPr>
          <a:xfrm>
            <a:off x="3186762" y="831204"/>
            <a:ext cx="6672105" cy="5788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lorful chart with black text&#10;&#10;AI-generated content may be incorrect." id="151" name="Google Shape;151;p10"/>
          <p:cNvPicPr preferRelativeResize="0"/>
          <p:nvPr/>
        </p:nvPicPr>
        <p:blipFill rotWithShape="1">
          <a:blip r:embed="rId3">
            <a:alphaModFix/>
          </a:blip>
          <a:srcRect b="-713" l="-153" r="5760" t="714"/>
          <a:stretch/>
        </p:blipFill>
        <p:spPr>
          <a:xfrm>
            <a:off x="276248" y="69980"/>
            <a:ext cx="11508316" cy="522514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0"/>
          <p:cNvSpPr txBox="1"/>
          <p:nvPr/>
        </p:nvSpPr>
        <p:spPr>
          <a:xfrm>
            <a:off x="1147665" y="5533053"/>
            <a:ext cx="69699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of 10 Fatal Injures occur between 21.00 and 02.00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 frequency of accidents occur between 14.00 and 18.00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Lowest frequency of injuries occur between 06.00 and 10.00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2146040" y="69979"/>
            <a:ext cx="70539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Accidents Αnalysis per Hour and Injury Type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of a number of objects&#10;&#10;AI-generated content may be incorrect." id="159" name="Google Shape;1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112" y="1205982"/>
            <a:ext cx="5629469" cy="32682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different colored bars&#10;&#10;AI-generated content may be incorrect." id="160" name="Google Shape;1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7166" y="1090400"/>
            <a:ext cx="5484760" cy="349937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/>
        </p:nvSpPr>
        <p:spPr>
          <a:xfrm>
            <a:off x="2397968" y="279918"/>
            <a:ext cx="66340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Analyzing Christmas Holiday Season</a:t>
            </a:r>
            <a:endParaRPr/>
          </a:p>
        </p:txBody>
      </p:sp>
      <p:sp>
        <p:nvSpPr>
          <p:cNvPr id="162" name="Google Shape;162;p11"/>
          <p:cNvSpPr txBox="1"/>
          <p:nvPr/>
        </p:nvSpPr>
        <p:spPr>
          <a:xfrm>
            <a:off x="1" y="5190353"/>
            <a:ext cx="63634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Increasing number of accidents in the middle of December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number of accidents on January 1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January 11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number of accidents around Christmas</a:t>
            </a:r>
            <a:endParaRPr/>
          </a:p>
        </p:txBody>
      </p:sp>
      <p:pic>
        <p:nvPicPr>
          <p:cNvPr descr="A graph of a graph showing the number of falling&#10;&#10;AI-generated content may be incorrect." id="163" name="Google Shape;16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9176" y="4722158"/>
            <a:ext cx="3585134" cy="209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e chart with a blue and green circle&#10;&#10;AI-generated content may be incorrect." id="168" name="Google Shape;1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350" y="1024932"/>
            <a:ext cx="5169983" cy="5330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e chart with a blue and green circle&#10;&#10;AI-generated content may be incorrect." id="169" name="Google Shape;1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7678" y="1024930"/>
            <a:ext cx="5083485" cy="533045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2"/>
          <p:cNvSpPr txBox="1"/>
          <p:nvPr/>
        </p:nvSpPr>
        <p:spPr>
          <a:xfrm>
            <a:off x="2140299" y="150725"/>
            <a:ext cx="74156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per conditions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 up of computer code" id="176" name="Google Shape;176;p13"/>
          <p:cNvPicPr preferRelativeResize="0"/>
          <p:nvPr>
            <p:ph idx="2" type="pic"/>
          </p:nvPr>
        </p:nvPicPr>
        <p:blipFill rotWithShape="1">
          <a:blip r:embed="rId3">
            <a:alphaModFix amt="40000"/>
          </a:blip>
          <a:srcRect b="7813" l="0" r="0" t="7812"/>
          <a:stretch/>
        </p:blipFill>
        <p:spPr>
          <a:xfrm>
            <a:off x="-55928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3"/>
          <p:cNvSpPr txBox="1"/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SUGGESTIONS</a:t>
            </a:r>
            <a:endParaRPr/>
          </a:p>
        </p:txBody>
      </p:sp>
      <p:grpSp>
        <p:nvGrpSpPr>
          <p:cNvPr id="183" name="Google Shape;183;p14"/>
          <p:cNvGrpSpPr/>
          <p:nvPr/>
        </p:nvGrpSpPr>
        <p:grpSpPr>
          <a:xfrm>
            <a:off x="1948025" y="2710027"/>
            <a:ext cx="8128000" cy="2613600"/>
            <a:chOff x="0" y="1402533"/>
            <a:chExt cx="8128000" cy="2613600"/>
          </a:xfrm>
        </p:grpSpPr>
        <p:sp>
          <p:nvSpPr>
            <p:cNvPr id="184" name="Google Shape;184;p14"/>
            <p:cNvSpPr/>
            <p:nvPr/>
          </p:nvSpPr>
          <p:spPr>
            <a:xfrm>
              <a:off x="0" y="1697733"/>
              <a:ext cx="8128000" cy="504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406400" y="1402533"/>
              <a:ext cx="5689600" cy="5904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435221" y="1431354"/>
              <a:ext cx="5631958" cy="532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5050" spcFirstLastPara="1" rIns="2150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Increase traffic officer presence during peak hours</a:t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0" y="2604933"/>
              <a:ext cx="8128000" cy="504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rgbClr val="25742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406400" y="2309733"/>
              <a:ext cx="5689600" cy="590400"/>
            </a:xfrm>
            <a:prstGeom prst="roundRect">
              <a:avLst>
                <a:gd fmla="val 16667" name="adj"/>
              </a:avLst>
            </a:prstGeom>
            <a:solidFill>
              <a:srgbClr val="25742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 txBox="1"/>
            <p:nvPr/>
          </p:nvSpPr>
          <p:spPr>
            <a:xfrm>
              <a:off x="435221" y="2338554"/>
              <a:ext cx="5631958" cy="532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5050" spcFirstLastPara="1" rIns="2150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 more traffic cameras </a:t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0" y="3512133"/>
              <a:ext cx="8128000" cy="504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rgbClr val="7E7E7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406400" y="3216933"/>
              <a:ext cx="5689600" cy="590400"/>
            </a:xfrm>
            <a:prstGeom prst="roundRect">
              <a:avLst>
                <a:gd fmla="val 16667" name="adj"/>
              </a:avLst>
            </a:prstGeom>
            <a:solidFill>
              <a:srgbClr val="7E7E7E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 txBox="1"/>
            <p:nvPr/>
          </p:nvSpPr>
          <p:spPr>
            <a:xfrm>
              <a:off x="435221" y="3245754"/>
              <a:ext cx="5631958" cy="532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5050" spcFirstLastPara="1" rIns="2150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Targeted road-safety campaign on high-risk days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dots&#10;" id="197" name="Google Shape;197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3996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98" name="Google Shape;198;p15"/>
          <p:cNvSpPr txBox="1"/>
          <p:nvPr>
            <p:ph type="title"/>
          </p:nvPr>
        </p:nvSpPr>
        <p:spPr>
          <a:xfrm>
            <a:off x="1362437" y="400485"/>
            <a:ext cx="9467127" cy="25279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1362075" y="3738622"/>
            <a:ext cx="9467850" cy="2527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2025-12-06T09:52:48Z</dcterms:created>
  <dc:creator>Georgia Samara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